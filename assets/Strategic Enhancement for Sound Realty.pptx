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0B472A-5B7D-4DF3-932D-3AF52458C380}">
  <a:tblStyle styleId="{9C0B472A-5B7D-4DF3-932D-3AF52458C3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1779537"/>
            <a:ext cx="85725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STRATEGIC ARCHITECTURE REVIEW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343298"/>
            <a:ext cx="11601450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Next-Gen Valuation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for Sound Realty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331940"/>
            <a:ext cx="85725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 presentation for real estate leaders on enhancing data accuracy, system speed, and long-term operational resilience.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1942207"/>
            <a:ext cx="11601450" cy="15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Through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Precision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524500" y="3915667"/>
            <a:ext cx="11430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34429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Driving revenue by solving the "Incomplete Listing" problem.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2592"/>
            <a:ext cx="34797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2172592"/>
            <a:ext cx="34797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0600" y="2172592"/>
            <a:ext cx="347975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2025" y="3382267"/>
            <a:ext cx="2833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Intelligent Data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887092"/>
            <a:ext cx="26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Advanced neighborhood comparisons that fill in the blanks where public records fall short.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746575" y="3382267"/>
            <a:ext cx="2833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Seamless Speed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46575" y="3887092"/>
            <a:ext cx="26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Optimization of the valuation engine to support real-time tablet use during live client home tours.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31125" y="3382267"/>
            <a:ext cx="28336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Modern Core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31125" y="3887092"/>
            <a:ext cx="269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complete structural overhaul of our code to ensure we can pivot as fast as the Seattle market.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01217"/>
            <a:ext cx="43815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6575" y="2601217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31125" y="2601217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Three Pillars of Excellence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313551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Missing square footage or bedroom counts shouldn't stop a deal. Our system now employs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Intelligent Imputation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408801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automatically analyzing "Smart Comparables" in immediate proximity, we ensure every property gets a robust, data-backed estimate—even when the source data is imperfect.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09625" y="1474589"/>
            <a:ext cx="4950618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Filling the Data Gaps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1474589"/>
            <a:ext cx="57150" cy="108942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2758380"/>
            <a:ext cx="52387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65%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4663380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Faster Response Times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381750" y="2930723"/>
            <a:ext cx="550068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Eliminating the Wait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6381750" y="3519338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 a hot market, seconds matter. We have re-engineered our API to deliver home valuations nearly instantly. This performance gain ensures Sound Realty agents project absolute technical professionalism during client interactions.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Response Velocity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7210"/>
            <a:ext cx="11049000" cy="478928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452050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Complete market visibility: No property is left behind due to incomplete records.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Total Database Coverage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1605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571500" y="1891605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Clearing Technical Debt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227811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treated the legacy codebase like a fixer-upper. By stripping away inefficient "plumbing" and updating the "wiring," we've built a system that is easy to maintain.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332586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means when Sound Realty wants to launch a new feature next month, it will take days of effort instead of weeks.</a:t>
            </a:r>
            <a:endParaRPr/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01130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Operational "Home Improvement"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1143000" y="2482155"/>
            <a:ext cx="10477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Agent Empowerment: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Confidence to price any property on the fly.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1143000" y="3187005"/>
            <a:ext cx="10477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Risk Mitigation: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Cleaner code means fewer system crashes and errors.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1143000" y="3891855"/>
            <a:ext cx="10477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Market Readiness: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Modular design allows for rapid response to Seattle volatility.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143000" y="4596705"/>
            <a:ext cx="10477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Enhanced CX:</a:t>
            </a:r>
            <a:r>
              <a:rPr b="0" i="0" lang="en-US" sz="19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Client experience is defined by speed and accuracy.</a:t>
            </a:r>
            <a:endParaRPr/>
          </a:p>
        </p:txBody>
      </p:sp>
      <p:pic>
        <p:nvPicPr>
          <p:cNvPr descr="image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9780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463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9480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44330"/>
            <a:ext cx="3810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Unlocking Strategic Value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21"/>
          <p:cNvGraphicFramePr/>
          <p:nvPr/>
        </p:nvGraphicFramePr>
        <p:xfrm>
          <a:off x="571500" y="2120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{9C0B472A-5B7D-4DF3-932D-3AF52458C380}</a:tableStyleId>
              </a:tblPr>
              <a:tblGrid>
                <a:gridCol w="3172725"/>
                <a:gridCol w="3938000"/>
                <a:gridCol w="3938300"/>
              </a:tblGrid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Benchmark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Legacy 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Next-Gen Upgrade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Completion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717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Errors on Missing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Intelligent Prediction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API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C23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27</a:t>
                      </a:r>
                      <a:r>
                        <a:rPr lang="en-US" sz="1500">
                          <a:solidFill>
                            <a:srgbClr val="F1C23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</a:t>
                      </a:r>
                      <a:r>
                        <a:rPr b="0" i="0" lang="en-US" sz="1500" u="none" cap="none" strike="noStrike">
                          <a:solidFill>
                            <a:srgbClr val="F1C23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 (Average)</a:t>
                      </a:r>
                      <a:endParaRPr>
                        <a:solidFill>
                          <a:srgbClr val="F1C23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10m</a:t>
                      </a: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 (Instant)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Scaling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1C23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Limited</a:t>
                      </a:r>
                      <a:endParaRPr>
                        <a:solidFill>
                          <a:srgbClr val="F1C23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Enterprise Ready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Maintainance Effort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1C23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(Technical Debt)</a:t>
                      </a:r>
                      <a:endParaRPr>
                        <a:solidFill>
                          <a:srgbClr val="F1C232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 (Modular Code)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1"/>
          <p:cNvSpPr/>
          <p:nvPr/>
        </p:nvSpPr>
        <p:spPr>
          <a:xfrm>
            <a:off x="571500" y="2829817"/>
            <a:ext cx="3172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744217" y="2829817"/>
            <a:ext cx="39379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7682210" y="2829817"/>
            <a:ext cx="39382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71500" y="3582292"/>
            <a:ext cx="3172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744217" y="3582292"/>
            <a:ext cx="39379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7682210" y="3582292"/>
            <a:ext cx="39382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71500" y="4334767"/>
            <a:ext cx="3172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744217" y="4334767"/>
            <a:ext cx="39379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7682210" y="4334767"/>
            <a:ext cx="39382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71500" y="5087242"/>
            <a:ext cx="3172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744217" y="5087242"/>
            <a:ext cx="39379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7682210" y="5087242"/>
            <a:ext cx="39382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71500" y="5839717"/>
            <a:ext cx="3172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744217" y="5839717"/>
            <a:ext cx="39379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7682210" y="5839717"/>
            <a:ext cx="393828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809625" y="571500"/>
            <a:ext cx="11351418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Competitive Platform Analysis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571500" y="571500"/>
            <a:ext cx="57150" cy="5447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295275" y="2215604"/>
            <a:ext cx="11601450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Future-Proofing </a:t>
            </a:r>
            <a:r>
              <a:rPr b="1" i="0" lang="en-US" sz="6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Seattle Real Estate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416614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Ready to dominate the market with data-driven confidence.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295275" y="2324100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3467100"/>
            <a:ext cx="11049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 I look forward to your thoughts on how these enhancements will impact your daily workflow.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4324350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SOUND REALTY • ARCHITECTURAL UPGRADE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